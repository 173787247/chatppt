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3.xml" ContentType="application/vnd.openxmlformats-officedocument.customXmlProperties+xml"/>
  <Override PartName="/customXml/itemProps22.xml" ContentType="application/vnd.openxmlformats-officedocument.customXmlProperties+xml"/>
  <Override PartName="/customXml/itemProps31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1.xml" ContentType="application/vnd.openxmlformats-officedocument.presentationml.handoutMaster+xml"/>
  <Override PartName="/ppt/media/image22.svg" ContentType="image/svg+xml"/>
  <Override PartName="/ppt/media/image4.svg" ContentType="image/svg+xml"/>
  <Override PartName="/ppt/notesMasters/notesMaster11.xml" ContentType="application/vnd.openxmlformats-officedocument.presentationml.notesMaster+xml"/>
  <Override PartName="/ppt/notesSlides/notesSlide1013.xml" ContentType="application/vnd.openxmlformats-officedocument.presentationml.notesSlide+xml"/>
  <Override PartName="/ppt/notesSlides/notesSlide1110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12.xml" ContentType="application/vnd.openxmlformats-officedocument.presentationml.notesSlide+xml"/>
  <Override PartName="/ppt/notesSlides/notesSlide611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12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2.xml" ContentType="application/vnd.openxmlformats-officedocument.theme+xml"/>
  <Override PartName="/ppt/theme/theme21.xml" ContentType="application/vnd.openxmlformats-officedocument.theme+xml"/>
  <Override PartName="/ppt/theme/theme3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18"/>
  </p:notesMasterIdLst>
  <p:handoutMasterIdLst>
    <p:handoutMasterId r:id="rId19"/>
  </p:handoutMasterIdLst>
  <p:sldIdLst>
    <p:sldId id="256" r:id="rId24"/>
    <p:sldId id="257" r:id="rId25"/>
    <p:sldId id="258" r:id="rId26"/>
    <p:sldId id="259" r:id="rId27"/>
    <p:sldId id="260" r:id="rId28"/>
    <p:sldId id="26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3.xml"/><Relationship Id="rId2" Type="http://schemas.openxmlformats.org/officeDocument/2006/relationships/customXml" Target="../customXml/item2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1.xml"/><Relationship Id="rId19" Type="http://schemas.openxmlformats.org/officeDocument/2006/relationships/handoutMaster" Target="handoutMasters/handoutMaster1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2.xml"/><Relationship Id="rId23" Type="http://schemas.openxmlformats.org/officeDocument/2006/relationships/tableStyles" Target="tableStyles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/Relationships>
</file>

<file path=ppt/handoutMasters/_rels/handout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33.xml"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2/29/2024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2/29/2024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2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3.xml"/></Relationships>
</file>

<file path=ppt/notesSlides/_rels/notesSlide5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5.xml"/></Relationships>
</file>

<file path=ppt/notesSlides/_rels/notesSlide6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6.xml"/></Relationships>
</file>

<file path=ppt/notesSlides/_rels/notesSlide10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0.xml"/></Relationships>
</file>

<file path=ppt/notesSlides/_rels/notesSlide1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1.xml"/><Relationship Id="rId2" Type="http://schemas.openxmlformats.org/officeDocument/2006/relationships/slide" Target="../slides/slide11.xml"/>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061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10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2517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7640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80537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8478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6260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3386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97400"/>
      </p:ext>
    </p:extLst>
  </p:cSld>
  <p:clrMapOvr>
    <a:masterClrMapping/>
  </p:clrMapOvr>
</p:notes>
</file>

<file path=ppt/notesSlides/notesSlide5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05339"/>
      </p:ext>
    </p:extLst>
  </p:cSld>
  <p:clrMapOvr>
    <a:masterClrMapping/>
  </p:clrMapOvr>
</p:notes>
</file>

<file path=ppt/notesSlides/notesSlide6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94091"/>
      </p:ext>
    </p:extLst>
  </p:cSld>
  <p:clrMapOvr>
    <a:masterClrMapping/>
  </p:clrMapOvr>
</p:notes>
</file>

<file path=ppt/notesSlides/notesSlide10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89505"/>
      </p:ext>
    </p:extLst>
  </p:cSld>
  <p:clrMapOvr>
    <a:masterClrMapping/>
  </p:clrMapOvr>
</p:notes>
</file>

<file path=ppt/notesSlides/notesSlide1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95647"/>
      </p:ext>
    </p:extLst>
  </p:cSld>
  <p:clrMapOvr>
    <a:masterClrMapping/>
  </p:clrMapOvr>
</p:note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2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2E882-4E93-85DF-DE0B-6F64263A3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547609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CB7CBB1-8DA1-E416-2554-28C331D0A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E442E8B-94A4-D6CF-E77C-A046400CB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C0E72D9-C2D7-3452-FBEB-5506D32118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5100"/>
            <a:ext cx="713739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82648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177A207-9B85-52B8-8ED0-3616C76742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086100 h 6858000"/>
              <a:gd name="connsiteX1" fmla="*/ 4375405 w 12192000"/>
              <a:gd name="connsiteY1" fmla="*/ 6858000 h 6858000"/>
              <a:gd name="connsiteX2" fmla="*/ 0 w 12192000"/>
              <a:gd name="connsiteY2" fmla="*/ 6858000 h 6858000"/>
              <a:gd name="connsiteX3" fmla="*/ 7816598 w 12192000"/>
              <a:gd name="connsiteY3" fmla="*/ 0 h 6858000"/>
              <a:gd name="connsiteX4" fmla="*/ 12192000 w 12192000"/>
              <a:gd name="connsiteY4" fmla="*/ 0 h 6858000"/>
              <a:gd name="connsiteX5" fmla="*/ 12192000 w 12192000"/>
              <a:gd name="connsiteY5" fmla="*/ 3771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3086100"/>
                </a:moveTo>
                <a:lnTo>
                  <a:pt x="4375405" y="6858000"/>
                </a:lnTo>
                <a:lnTo>
                  <a:pt x="0" y="6858000"/>
                </a:lnTo>
                <a:close/>
                <a:moveTo>
                  <a:pt x="7816598" y="0"/>
                </a:moveTo>
                <a:lnTo>
                  <a:pt x="12192000" y="0"/>
                </a:lnTo>
                <a:lnTo>
                  <a:pt x="12192000" y="37718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1"/>
            <a:ext cx="7156415" cy="2258568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5489-5B17-0977-F512-70D9A10871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2232"/>
            <a:ext cx="715641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61574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346F93-664A-16A2-A824-FBB5F60B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3373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6B8E3C-9527-FBC2-184C-8D90C4520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464" indent="-283464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5079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FFC437-DF02-7776-8224-91AD11D7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67E2A-FC6B-2D96-EF20-768A6E8B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A79F2D-2D69-D1C7-FD7D-70C2EAE4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05BE07A-FC17-07E2-4E28-5883FC2C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D408C-2A4E-CEE1-5980-F9BC8938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E622ED-3DA5-D5E9-B688-B2000E522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677B7-A20C-1A5D-301E-5B7DCAF1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6AD29FD-92CC-65CC-1E8B-437A1E59A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81396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92207A-D227-5650-4C58-FA396957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3BCBAF-4668-B2E6-7681-7E02428B4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DD99B65-6C51-CA99-9872-6FD254075A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2516236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617646-6AF6-94B0-E660-98BCAC61F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16790"/>
      </p:ext>
    </p:extLst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9E1A91-D555-1AE6-2CDF-324AF09F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E6FE2D-89F6-4F06-E60F-5C1CB044DC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14082"/>
      </p:ext>
    </p:extLst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6BC47-DB6B-4A01-6575-4D14CAEB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51400" y="586740"/>
            <a:ext cx="6643944" cy="1653540"/>
          </a:xfrm>
        </p:spPr>
        <p:txBody>
          <a:bodyPr anchor="ctr"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BE81C174-B581-A6F3-A3B5-8072C0050E9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851400" y="2495074"/>
            <a:ext cx="6643944" cy="377618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646899"/>
      </p:ext>
    </p:extLst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287CC22-A7CC-E0D0-F44E-BA217E88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51352"/>
      </p:ext>
    </p:extLst>
  </p:cSld>
  <p:clrMapOvr>
    <a:masterClrMapping/>
  </p:clrMapOvr>
</p:sldLayout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511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913.xml"/><Relationship Id="rId10" Type="http://schemas.openxmlformats.org/officeDocument/2006/relationships/slideLayout" Target="../slideLayouts/slideLayout1012.xml"/><Relationship Id="rId11" Type="http://schemas.openxmlformats.org/officeDocument/2006/relationships/slideLayout" Target="../slideLayouts/slideLayout1110.xml"/><Relationship Id="rId12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33.xml"/><Relationship Id="rId14" Type="http://schemas.openxmlformats.org/officeDocument/2006/relationships/theme" Target="../theme/theme12.xml"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47" r:id="rId3"/>
    <p:sldLayoutId id="2147483748" r:id="rId4"/>
    <p:sldLayoutId id="2147483708" r:id="rId5"/>
    <p:sldLayoutId id="2147483746" r:id="rId6"/>
    <p:sldLayoutId id="2147483725" r:id="rId7"/>
    <p:sldLayoutId id="2147483742" r:id="rId8"/>
    <p:sldLayoutId id="2147483736" r:id="rId9"/>
    <p:sldLayoutId id="2147483745" r:id="rId10"/>
    <p:sldLayoutId id="2147483741" r:id="rId11"/>
    <p:sldLayoutId id="2147483718" r:id="rId12"/>
    <p:sldLayoutId id="2147483737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3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7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8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2.xml"/><Relationship Id="rId2" Type="http://schemas.openxmlformats.org/officeDocument/2006/relationships/notesSlide" Target="../notesSlides/notesSlide10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0.xml"/><Relationship Id="rId2" Type="http://schemas.openxmlformats.org/officeDocument/2006/relationships/notesSlide" Target="../notesSlides/notesSlide11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notesSlide" Target="../notesSlides/notesSlide12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1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2024 业绩概述</a:t>
            </a:r>
          </a:p>
          <a:p>
            <a:pPr/>
            <a:r>
              <a:t>业绩图表展示</a:t>
            </a:r>
          </a:p>
          <a:p>
            <a:pPr/>
            <a:r>
              <a:t>新产品发布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2024 业绩概述</a:t>
            </a:r>
          </a:p>
          <a:p>
            <a:pPr/>
            <a:r>
              <a:t>业绩图表展示</a:t>
            </a:r>
          </a:p>
          <a:p>
            <a:pPr/>
            <a:r>
              <a:t>新产品发布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总收入增长15%</a:t>
            </a:r>
          </a:p>
          <a:p>
            <a:pPr/>
            <a:r>
              <a:t>市场份额扩大至30%</a:t>
            </a:r>
          </a:p>
          <a:p>
            <a:pPr/>
            <a:r>
              <a:t>客户满意度提升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总收入增长15%</a:t>
            </a:r>
          </a:p>
          <a:p>
            <a:pPr/>
            <a:r>
              <a:t>市场份额扩大至30%</a:t>
            </a:r>
          </a:p>
          <a:p>
            <a:pPr/>
            <a:r>
              <a:t>客户满意度提升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performance_chart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37475" r="37475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performance_chart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37475" r="37475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half"/>
          </p:nvPr>
        </p:nvSpPr>
        <p:spPr/>
        <p:txBody>
          <a:bodyPr/>
          <a:lstStyle/>
          <a:p/>
          <a:p>
            <a:pPr/>
            <a:r>
              <a:t>产品A: 特色功能介绍</a:t>
            </a:r>
          </a:p>
          <a:p>
            <a:pPr/>
            <a:r>
              <a:t>产品B: 市场定位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half"/>
          </p:nvPr>
        </p:nvSpPr>
        <p:spPr/>
        <p:txBody>
          <a:bodyPr/>
          <a:lstStyle/>
          <a:p/>
          <a:p>
            <a:pPr/>
            <a:r>
              <a:t>产品A: 特色功能介绍</a:t>
            </a:r>
          </a:p>
          <a:p>
            <a:pPr/>
            <a:r>
              <a:t>产品B: 市场定位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16F188B-64AC-8821-8110-7D3C4668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5411" y="765810"/>
            <a:ext cx="7029933" cy="2471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Voice modulation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65411" y="3599130"/>
            <a:ext cx="7029933" cy="247147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674DE4-E247-6221-003F-F5EDF18C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5DA1B-2DD8-6AFE-6EA4-2C08AE195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572" y="1483837"/>
            <a:ext cx="2929829" cy="3890326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8EB18-9E75-62BE-FDC2-DB82D96C89C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261226" y="1483837"/>
            <a:ext cx="4234117" cy="3890326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58589-7CC8-7CCC-8CCB-9E7FD049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08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FE798-07B0-EAD2-2F50-0A731053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08481" y="892176"/>
            <a:ext cx="4578319" cy="50736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0" name="Picture Placeholder 9" descr="People at a job interview">
            <a:extLst>
              <a:ext uri="{FF2B5EF4-FFF2-40B4-BE49-F238E27FC236}">
                <a16:creationId xmlns:a16="http://schemas.microsoft.com/office/drawing/2014/main" id="{E03A52AD-920D-2A27-F35D-9F94AAD3173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2400" y="892176"/>
            <a:ext cx="2430462" cy="5073648"/>
          </a:xfrm>
        </p:spPr>
      </p:pic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91A4-7839-4F63-B17C-7C366C59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/>
              <a:t>How we get there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6E3A828-4C37-B3D3-4A6A-EAD9AC3E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ED227-95A7-4B08-91FE-5E0EF0D41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1400" y="586740"/>
            <a:ext cx="6643944" cy="16535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22" name="Table Placeholder 21">
            <a:extLst>
              <a:ext uri="{FF2B5EF4-FFF2-40B4-BE49-F238E27FC236}">
                <a16:creationId xmlns:a16="http://schemas.microsoft.com/office/drawing/2014/main" id="{2489EEE8-CF4D-8EBE-627D-CAA3554788C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10096122"/>
              </p:ext>
            </p:extLst>
          </p:nvPr>
        </p:nvGraphicFramePr>
        <p:xfrm>
          <a:off x="4851400" y="2495550"/>
          <a:ext cx="6643688" cy="365633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395220">
                  <a:extLst>
                    <a:ext uri="{9D8B030D-6E8A-4147-A177-3AD203B41FA5}">
                      <a16:colId xmlns:a16="http://schemas.microsoft.com/office/drawing/2014/main" val="3402690428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799875780"/>
                    </a:ext>
                  </a:extLst>
                </a:gridCol>
                <a:gridCol w="1099344">
                  <a:extLst>
                    <a:ext uri="{9D8B030D-6E8A-4147-A177-3AD203B41FA5}">
                      <a16:colId xmlns:a16="http://schemas.microsoft.com/office/drawing/2014/main" val="2190748374"/>
                    </a:ext>
                  </a:extLst>
                </a:gridCol>
                <a:gridCol w="1099344">
                  <a:extLst>
                    <a:ext uri="{9D8B030D-6E8A-4147-A177-3AD203B41FA5}">
                      <a16:colId xmlns:a16="http://schemas.microsoft.com/office/drawing/2014/main" val="3764571485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69084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691927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071998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73566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64487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428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54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/>
              <a:t>Final tips </a:t>
            </a:r>
            <a:br>
              <a:rPr lang="en-US" dirty="0"/>
            </a:br>
            <a:r>
              <a:rPr lang="en-US" dirty="0"/>
              <a:t>&amp; takeaways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16F188B-64AC-8821-8110-7D3C4668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305842" y="867412"/>
            <a:ext cx="3196558" cy="51231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Continue improving</a:t>
            </a:r>
          </a:p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3224" y="867412"/>
            <a:ext cx="4742119" cy="51231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</p:spTree>
    <p:extLst>
      <p:ext uri="{BB962C8B-B14F-4D97-AF65-F5344CB8AC3E}">
        <p14:creationId xmlns:p14="http://schemas.microsoft.com/office/powerpoint/2010/main" val="3855623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/>
              <a:t>Areas of growth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53A0C8-DA91-CFE4-729F-190431BB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9B571DB8-3F1A-20CB-D9A6-171B34BF49C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37804455"/>
              </p:ext>
            </p:extLst>
          </p:nvPr>
        </p:nvGraphicFramePr>
        <p:xfrm>
          <a:off x="3489325" y="892175"/>
          <a:ext cx="7422516" cy="521144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855629">
                  <a:extLst>
                    <a:ext uri="{9D8B030D-6E8A-4147-A177-3AD203B41FA5}">
                      <a16:colId xmlns:a16="http://schemas.microsoft.com/office/drawing/2014/main" val="4091040019"/>
                    </a:ext>
                  </a:extLst>
                </a:gridCol>
                <a:gridCol w="1855629">
                  <a:extLst>
                    <a:ext uri="{9D8B030D-6E8A-4147-A177-3AD203B41FA5}">
                      <a16:colId xmlns:a16="http://schemas.microsoft.com/office/drawing/2014/main" val="2285434966"/>
                    </a:ext>
                  </a:extLst>
                </a:gridCol>
                <a:gridCol w="1855629">
                  <a:extLst>
                    <a:ext uri="{9D8B030D-6E8A-4147-A177-3AD203B41FA5}">
                      <a16:colId xmlns:a16="http://schemas.microsoft.com/office/drawing/2014/main" val="2053138810"/>
                    </a:ext>
                  </a:extLst>
                </a:gridCol>
                <a:gridCol w="1855629">
                  <a:extLst>
                    <a:ext uri="{9D8B030D-6E8A-4147-A177-3AD203B41FA5}">
                      <a16:colId xmlns:a16="http://schemas.microsoft.com/office/drawing/2014/main" val="935701835"/>
                    </a:ext>
                  </a:extLst>
                </a:gridCol>
              </a:tblGrid>
              <a:tr h="86857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773206"/>
                  </a:ext>
                </a:extLst>
              </a:tr>
              <a:tr h="8685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904316"/>
                  </a:ext>
                </a:extLst>
              </a:tr>
              <a:tr h="8685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575784"/>
                  </a:ext>
                </a:extLst>
              </a:tr>
              <a:tr h="8685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008833"/>
                  </a:ext>
                </a:extLst>
              </a:tr>
              <a:tr h="8685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69744"/>
                  </a:ext>
                </a:extLst>
              </a:tr>
              <a:tr h="8685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43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65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3"/>
            <a:ext cx="7156415" cy="1740548"/>
          </a:xfrm>
        </p:spPr>
        <p:txBody>
          <a:bodyPr anchor="ctr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21271" y="3670658"/>
            <a:ext cx="5149459" cy="1510939"/>
          </a:xfrm>
        </p:spPr>
        <p:txBody>
          <a:bodyPr>
            <a:normAutofit/>
          </a:bodyPr>
          <a:lstStyle/>
          <a:p>
            <a:r>
              <a:rPr lang="en-US" dirty="0"/>
              <a:t>Pio Milanesi</a:t>
            </a:r>
          </a:p>
          <a:p>
            <a:r>
              <a:rPr lang="en-US" dirty="0"/>
              <a:t>pio@contoso.com</a:t>
            </a:r>
          </a:p>
          <a:p>
            <a:r>
              <a:rPr lang="en-US" dirty="0"/>
              <a:t>contoso.com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3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1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20</ap:TotalTime>
  <ap:Words>435</ap:Words>
  <ap:Application>Microsoft Office PowerPoint</ap:Application>
  <ap:PresentationFormat>Widescreen</ap:PresentationFormat>
  <ap:Paragraphs>131</ap:Paragraphs>
  <ap:Slides>13</ap:Slides>
  <ap:Notes>13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ap:HeadingPairs>
  <ap:TitlesOfParts>
    <vt:vector baseType="lpstr" size="18">
      <vt:lpstr>Aptos</vt:lpstr>
      <vt:lpstr>Arial</vt:lpstr>
      <vt:lpstr>Calibri</vt:lpstr>
      <vt:lpstr>Gill Sans MT</vt:lpstr>
      <vt:lpstr>Parcel</vt:lpstr>
      <vt:lpstr>Public speaking solutions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</vt:lpstr>
      <vt:lpstr>How we get there</vt:lpstr>
      <vt:lpstr>Final tips  &amp; takeaways</vt:lpstr>
      <vt:lpstr>Areas of growth</vt:lpstr>
      <vt:lpstr>Thank you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ChatPPT_Demo</dc:title>
  <dcterms:created xsi:type="dcterms:W3CDTF">2024-02-15T21:11:36Z</dcterms:created>
  <dcterms:modified xsi:type="dcterms:W3CDTF">2024-02-29T14:16:14Z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